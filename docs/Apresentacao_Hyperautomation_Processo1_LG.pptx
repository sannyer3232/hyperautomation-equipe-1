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D91489F-69E1-4E24-A413-CCE801EB040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9EF614D-A606-4EA2-AD92-920C8B2CF2C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2A6A25C-4AF4-4FB2-86E1-C003587B30C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1420C54-BA8C-491E-B1FA-0E87F8C762F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DBCE59B-EF85-43BD-B637-7DF5BA6C4A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A2F9C30-9FDA-4349-91C9-523CB91562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4BFFD5E-DE80-4C56-B4DF-BAA483E3030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A883103-A679-48E4-836B-6558138AF7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051BF85-CBA7-43E3-81A5-A68B527DA2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do texto do título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23B92DF-C87E-4048-9709-BA4A5EFF72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D7E7DC8-645C-4726-95D7-934FEBF8DC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22824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ounded Rectangle 2"/>
          <p:cNvSpPr/>
          <p:nvPr/>
        </p:nvSpPr>
        <p:spPr>
          <a:xfrm>
            <a:off x="914400" y="914400"/>
            <a:ext cx="10362600" cy="4754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0" tIns="457200" rIns="9000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28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DEFESA DA SOLUÇÃO DE HYPERAUTOMATION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401"/>
              </a:spcAft>
            </a:pPr>
            <a:r>
              <a:rPr lang="en-US" sz="16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Processo 1: Automação do Setor de Atendimento &amp; Cadastro da Empresa Portal Fake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401"/>
              </a:spcAft>
            </a:pPr>
            <a:r>
              <a:rPr lang="en-US" sz="12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Disciplina: Técnicas de Hyperautomation (Semana 07 / Atividade 11)</a:t>
            </a:r>
            <a:br>
              <a:rPr sz="1200"/>
            </a:br>
            <a:r>
              <a:rPr lang="en-US" sz="12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Professor: Prof. Moisés Levy | Tempo de Apresentação: 20 Minutos</a:t>
            </a:r>
            <a:br>
              <a:rPr sz="1200"/>
            </a:br>
            <a:r>
              <a:rPr lang="en-US" sz="12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Instituição: PÓLO DE INOVAÇÃO IFAM / FAEPI / LG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EQUIPE 1 (INTEGRANTES &amp; PAPEIS):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Eric Luna Costa — Analista de Processos BPMN &amp; Regras de Negócio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Daniele Greice Albuquerque e Silva — Desenvolvedora de Automação Core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Kauã Sales Viana — Desenvolvedor de Automação Core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Sannyer Cardoso Carvalho Nery — DevOps, Versionamento, Arquitetura &amp; Orquestração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1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ESTRUTURA DA DEFESA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Agenda da Apresentação Técnica (20 Minutos)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Visão Geral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Rounded Rectangle 6"/>
          <p:cNvSpPr/>
          <p:nvPr/>
        </p:nvSpPr>
        <p:spPr>
          <a:xfrm>
            <a:off x="548640" y="1280160"/>
            <a:ext cx="5303160" cy="228564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1: Contexto &amp; BPMN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Apresentador: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Eric Luna Costa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Contexto do Problema: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Gargalos do atendimento manual no Portal Fake.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Processo AS-IS: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Fluxo operacional antes da automação.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Processo TO-BE: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Modelagem BPMN 2.0 no Draw.io e regras de negócio.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ounded Rectangle 7"/>
          <p:cNvSpPr/>
          <p:nvPr/>
        </p:nvSpPr>
        <p:spPr>
          <a:xfrm>
            <a:off x="6217920" y="1280160"/>
            <a:ext cx="5303160" cy="228564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2: Arquitetura &amp; Core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Apresentadores: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Daniele Greice &amp; Kauã Sales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Stack Tecnológico: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Python 3.10, Playwright, pypdf, BotCity Maestro.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Fases 1 &amp; 2: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Geração de Ficha Word, Envio SMTP e Leitor IMAP.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Fase 3: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Validador documental inteligente de PDFs únicos.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8"/>
          <p:cNvSpPr/>
          <p:nvPr/>
        </p:nvSpPr>
        <p:spPr>
          <a:xfrm>
            <a:off x="548640" y="3840480"/>
            <a:ext cx="5303160" cy="228564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3: ERP, Drive &amp; DevOps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Apresentador: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Sannyer Cardoso Carvalho Nery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Gestão de Arquivos: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Pastas ERP local e Google Drive API v3.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Solução de Cota: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Suporte OAuth 2.0 / Service Account e GOOGLE_DRIVE_FOLDER_ID.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Governança &amp; GitFlow: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Orquestrador central e controle de versão.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9"/>
          <p:cNvSpPr/>
          <p:nvPr/>
        </p:nvSpPr>
        <p:spPr>
          <a:xfrm>
            <a:off x="6217920" y="3840480"/>
            <a:ext cx="5303160" cy="228564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4: Evidências &amp; Resultados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Apresentadores: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Equipe Integrada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Evidências Práticas: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Execution logs do terminal e screenshots do portal.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Tabela de Ganhos: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Comparativo de métricas de eficiência (Antes vs Depois).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Conclusão &amp; Q&amp;A: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Defesa técnica e resposta a perguntas da banca.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0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2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1 — CONTEXTO &amp; BPMN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Contexto Organizacional: Empresa Portal Fake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Eric Luna Costa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6"/>
          <p:cNvSpPr/>
          <p:nvPr/>
        </p:nvSpPr>
        <p:spPr>
          <a:xfrm>
            <a:off x="54864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O ERP Simulado da Empresa Portal Fake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Operação Comercial: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 Empresa Portal Fake atua no fornecimento de soluções digitais e cadastramento de novos clientes.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Volume Operacional: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Recebe diariamente dezenas de solicitações cadastrais que exigem validação de documentos com foto, comprovante de residência e ficha assinada.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Ecossistema Híbrido: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 operação necessita de integração constante entre a interface Web (Portal ERP), a caixa de e-mails corporativa e o repositório de arquivos na nuvem.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Rounded Rectangle 7"/>
          <p:cNvSpPr/>
          <p:nvPr/>
        </p:nvSpPr>
        <p:spPr>
          <a:xfrm>
            <a:off x="621792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Desafios do Setor de Atendimento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Alta Dependência Manual: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Operadores humanos realizam triagem manual repetitiva e verificação visual de anexos.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Complexidade de Integração: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Necessidade de ler e-mails de retorno, extrair anexos, converter/validar PDFs, atualizar dados no Portal Web e organizar arquivos.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Requisito da Semana 07: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Evoluir a automação existente sem recriar o robô, adicionando o módulo de Atendimento com padrão arquitetural limpo e integrado.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8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3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1 — CONTEXTO &amp; BPMN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 Problema de Negócio &amp; Gargalos Operacionais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Eric Luna Costa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Rounded Rectangle 6"/>
          <p:cNvSpPr/>
          <p:nvPr/>
        </p:nvSpPr>
        <p:spPr>
          <a:xfrm>
            <a:off x="548640" y="1280160"/>
            <a:ext cx="34743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🔴 Tempo de Resposta Elevado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Gargalo 1: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Cada atendimento manual consumia entre 15 a 20 minutos por cliente.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Impacto: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Filas de espera na caixa de e-mail e demora no envio de confirmações aos clientes.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7"/>
          <p:cNvSpPr/>
          <p:nvPr/>
        </p:nvSpPr>
        <p:spPr>
          <a:xfrm>
            <a:off x="4297680" y="1280160"/>
            <a:ext cx="34743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🔴 Falha Humana na Triagem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Gargalo 2: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Erro frequente no aceite de fichas não assinadas ou documentos com foto ausentes.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Impacto: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Cadastros inconsistentes inseridos no sistema e necessidade de retrabalho constante.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8"/>
          <p:cNvSpPr/>
          <p:nvPr/>
        </p:nvSpPr>
        <p:spPr>
          <a:xfrm>
            <a:off x="8046720" y="1280160"/>
            <a:ext cx="34743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🔴 Descentralização de Dados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Gargalo 3: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Arquivos salvos em pastas locais dispersas sem espelhamento na nuvem.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Impacto: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Falta de auditoria, perda de histórico e dificuldade de acesso por outros setores.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9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4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1 — CONTEXTO &amp; BPMN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Mapeamento do Processo AS-IS (Manual)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Eric Luna Costa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6"/>
          <p:cNvSpPr/>
          <p:nvPr/>
        </p:nvSpPr>
        <p:spPr>
          <a:xfrm>
            <a:off x="548640" y="1280160"/>
            <a:ext cx="1097244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Fluxo Operacional Manual Antes da Automação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Etapa 1 — Recebimento Manual: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Operador abre a caixa de e-mail individual e verifica se há respostas de clientes.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Etapa 2 — Download &amp; Abertura: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Faz o download manual do anexo PDF para a área de trabalho e abre o arquivo no leitor local.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Etapa 3 — Validação Visual: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Confera visualmente se o PDF contém 3 páginas (Ficha assinada, documento com foto e comprovante de residência).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Etapa 4 — Digitação no ERP: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Abre o navegador, acessa o Portal Fake ERP e digita manualmente todos os dados do cliente.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Etapa 5 — Organização de Arquivos: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Move manualmente o arquivo para pastas locais de aprovados ou rejeitados.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Etapa 6 — Resposta ao Cliente: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Escreve um e-mail manual informando o status da aprovação ou pendência.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7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5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1 — CONTEXTO &amp; BPMN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Modelagem do Processo TO-BE em BPMN 2.0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Eric Luna Costa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Picture 6" descr="bpmn_atendimento_portal_fake.jpeg"/>
          <p:cNvPicPr/>
          <p:nvPr/>
        </p:nvPicPr>
        <p:blipFill>
          <a:blip r:embed="rId1"/>
          <a:stretch/>
        </p:blipFill>
        <p:spPr>
          <a:xfrm>
            <a:off x="548640" y="1280160"/>
            <a:ext cx="7131960" cy="273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Rounded Rectangle 7"/>
          <p:cNvSpPr/>
          <p:nvPr/>
        </p:nvSpPr>
        <p:spPr>
          <a:xfrm>
            <a:off x="7863840" y="1280160"/>
            <a:ext cx="374868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📐 Diagrama BPMN 2.0 (Draw.io)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Evento Inicial: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Chegada de e-mail com solicitação de atendimento ou retorno de assinatura.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Raias (Pools/Lanes):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Setor de Atendimento, Robô de Hyperautomation e Portal ERP.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Fluxo Automatizado: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Geração DOCX -&gt; SMTP -&gt; IMAP -&gt; pypdf -&gt; Playwright -&gt; Google Drive.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Gateways de Decisão: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Validação Documental Aprovada? (Sim -&gt; Documentos_OK / Não -&gt; Documentos_Pendentes).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Eventos Finais: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Envio de e-mail HTML com protocolo único e arquivamento em Encaminhados.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8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6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2 — ARQUITETURA &amp; CORE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Arquitetura Modular da Solução de Hyperautomation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Daniele &amp; Kauã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Rounded Rectangle 6"/>
          <p:cNvSpPr/>
          <p:nvPr/>
        </p:nvSpPr>
        <p:spPr>
          <a:xfrm>
            <a:off x="548640" y="1280160"/>
            <a:ext cx="1097244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Módulos Python e Separação de Responsabilidades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orquestrador.py: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Orquestrador principal que controla a execução das 3 fases do processo.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processo_atendimento/leitor_email.py: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Conecta à caixa IMAP4_SSL, busca e-mails não lidos (UNSEEN) e baixa PDFs.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processo_atendimento/validador_docs.py: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Executa a validação do PDF unificado via pypdf confirmando a integridade dos 3 documentos.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processo_atendimento/gestor_arquivos.py: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Gerencia o sistema de arquivos local do ERP e aciona a sincronização em nuvem.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processo_atendimento/gestor_drive.py: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Autentica via Google Drive API v3 e realiza a criação/movimentação remota de pastas.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processo_atendimento/resposta_cliente.py: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Envia notificações em HTML responsivo via SMTP (Solicitação e Confirmação/Pendência).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processo_atendimento/portal_integracao.py: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Automação Web via Playwright para cadastro e atualização de status no Portal Fake ERP.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7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7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2 — ARQUITETURA &amp; CORE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Stack Tecnológico Escolhido &amp; Justificativas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Daniele &amp; Kauã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Rounded Rectangle 6"/>
          <p:cNvSpPr/>
          <p:nvPr/>
        </p:nvSpPr>
        <p:spPr>
          <a:xfrm>
            <a:off x="54864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Tecnologias de Automação &amp; RPA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Python 3.10: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Linguagem base de alta produtividade, suporte a bibliotecas maduras e ecossistema robusto.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Playwright: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Automação Web de última geração, execução ultra-rápida em Chromium headless e suporte a screenshots.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BotCity Maestro SDK: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Orquestração na nuvem, controle de execução, postagem de artefatos e logs centralizados.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Rounded Rectangle 7"/>
          <p:cNvSpPr/>
          <p:nvPr/>
        </p:nvSpPr>
        <p:spPr>
          <a:xfrm>
            <a:off x="621792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Tecnologias de Integração &amp; Documentos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Google Drive API v3: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Integração oficial via google-api-python-client e google-auth-oauthlib.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pypdf &amp; python-docx: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Manipulação avançada de PDFs e geração dinâmica de fichas cadastrais em Word.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imaplib &amp; smtplib: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Protocolos padrão para conexão segura SSL a servidores de e-mail corporativos (Gmail).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8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8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2 — ARQUITETURA &amp; CORE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FASE 1: Geração da Ficha (.docx) &amp; Solicitação SMTP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Daniele &amp; Kauã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Rounded Rectangle 6"/>
          <p:cNvSpPr/>
          <p:nvPr/>
        </p:nvSpPr>
        <p:spPr>
          <a:xfrm>
            <a:off x="54864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Geração Dinâmica do Documento Word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Módulo de Suporte: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common/documento_email.py (função criar_documento).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Extração Dinâmica: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Robô lê os dados cadastrais do cliente no Portal Fake ou base de entrada.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Template Automático: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Preenche a Ficha Cadastral padronizada em formato .docx com Nome, CPF, Telefone, E-mail e Endereço.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Status Inicial: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Marca o status da ficha como 'AGUARDANDO ASSINATURA E DOCUMENTOS'.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Rounded Rectangle 7"/>
          <p:cNvSpPr/>
          <p:nvPr/>
        </p:nvSpPr>
        <p:spPr>
          <a:xfrm>
            <a:off x="621792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Disparo de E-mail de Solicitação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Módulo de Envio: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processo_atendimento/resposta_cliente.py.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Protocolo Único: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Gera protocolo único de atendimento no formato #YYYY-XXXX.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E-mail HTML Responsivo: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Envia o e-mail anexando a Ficha DOCX e instruindo o cliente a retornar o PDF Único com a ficha assinada e documentos com foto.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8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9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2 — ARQUITETURA &amp; CORE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FASE 2: Leitor de E-mails IMAP &amp; Extração de PDFs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Daniele &amp; Kauã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Rounded Rectangle 6"/>
          <p:cNvSpPr/>
          <p:nvPr/>
        </p:nvSpPr>
        <p:spPr>
          <a:xfrm>
            <a:off x="54864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Monitoramento Inteligente via IMAP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Conexão SSL: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imaplib.IMAP4_SSL com login seguro em imap.gmail.com.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Busca Seletiva: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Filtro estrito por e-mails NÃO LIDOS (UNSEEN) contendo 'Assinatura' ou 'Ficha' no assunto.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Prevenção de Duplicidade: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Aplica a flag \Seen no servidor IMAP imediatamente após o download para evitar reprocessamento duplicado.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ounded Rectangle 7"/>
          <p:cNvSpPr/>
          <p:nvPr/>
        </p:nvSpPr>
        <p:spPr>
          <a:xfrm>
            <a:off x="621792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Extração e Salvamento de Anexos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Módulo: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processo_atendimento/leitor_email.py.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Extração de PDF: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Decodifica headers de e-mail e salva o PDF unificado retornado pelo cliente.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Pasta de Entrada: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Armazena o arquivo diretamente em ERP_Portal_Fake/Downloads/.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Trigger no Drive: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Dispara o upload automático para a pasta 'Downloads' no Google Drive.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8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10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2 — ARQUITETURA &amp; CORE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FASE 3: Validador Documental Inteligente (pypdf)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Daniele &amp; Kauã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Rounded Rectangle 6"/>
          <p:cNvSpPr/>
          <p:nvPr/>
        </p:nvSpPr>
        <p:spPr>
          <a:xfrm>
            <a:off x="54864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Inspeção Automatizada de PDFs com pypdf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Módulo: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processo_atendimento/validador_docs.py.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Checagem de Tamanho: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Rejeita arquivos corrompidos ou com 0 bytes.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Inspeção de Conteúdo: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Lê o texto interno das páginas do PDF buscando palavras-chave obrigatórias: 'Ficha Cadastral', 'Assinada', 'Identidade/RG/CPF' e 'Comprovante/Residência'.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ounded Rectangle 7"/>
          <p:cNvSpPr/>
          <p:nvPr/>
        </p:nvSpPr>
        <p:spPr>
          <a:xfrm>
            <a:off x="621792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Decisão de Aprovação vs Pendência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Caso APROVADO: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Move PDF para 'Documentos_OK', executa cadastro Playwright, move para 'Encaminhados' e envia e-mail de aprovação em HTML.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Caso REPROVADO: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Move PDF para 'Documentos_Pendentes' e envia e-mail em HTML notificando as pendências exatas ao cliente.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8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11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6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3 — ERP, DRIVE &amp; DEVOPS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Estrutura de Pastas do ERP Simulado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Sannyer C. Nery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Rounded Rectangle 6"/>
          <p:cNvSpPr/>
          <p:nvPr/>
        </p:nvSpPr>
        <p:spPr>
          <a:xfrm>
            <a:off x="548640" y="1280160"/>
            <a:ext cx="1097244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Gerenciador de Arquivos ERP (gestor_arquivos.py)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1. Downloads/: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Pasta de entrada onde todos os novos PDFs baixados da caixa de e-mail são depositados.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2. Documentos_OK/: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Pasta intermediária para arquivos cujos PDFs foram validados e aprovados pelas regras de negócio.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3. Documentos_Pendentes/: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Pasta de retenção para documentos reprovados ou com inconsistências (aguardando novo envio).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4. Encaminhados/: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Pasta final do setor onde ficam armazenados os cadastros ativos concluídos e encaminhados ao próximo setor.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Sincronismo Físico/Nuvem: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Cada operação shutil.move() executada localmente invoca automaticamente o gestor_drive.mover_arquivo().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12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3 — ERP, DRIVE &amp; DEVOPS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Integração Avançada com Google Drive API v3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Sannyer C. Nery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Rounded Rectangle 6"/>
          <p:cNvSpPr/>
          <p:nvPr/>
        </p:nvSpPr>
        <p:spPr>
          <a:xfrm>
            <a:off x="54864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Módulo GestorDrive (gestor_drive.py)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Mapeamento Automático: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Localiza a pasta raiz ERP_Portal_Fake e garante a criação/mapeamento das 4 subpastas no Drive.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Mapeamento por ID: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Suporte à variável GOOGLE_DRIVE_FOLDER_ID no .env para vincular diretamente à pasta compartilhada pelo usuário.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Suporte a Drives Compartilhados: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Inclusão de supportsAllDrives=True e includeItemsFromAllDrives=True em todas as requisições API.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7"/>
          <p:cNvSpPr/>
          <p:nvPr/>
        </p:nvSpPr>
        <p:spPr>
          <a:xfrm>
            <a:off x="621792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Movimentação Remota Inteligente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Atualização de Parents: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Utiliza a API files().update(addParents=..., removeParents=...) para mover arquivos entre pastas sem recriá-los.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Rastreamento por Nome: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Localiza arquivos no Drive por query de nome e ID do pai com suporte a buscas globais de fallback.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8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13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3 — ERP, DRIVE &amp; DEVOPS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Resolução do Desafio Técnico: Cota 0MB no Drive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Sannyer C. Nery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Rounded Rectangle 6"/>
          <p:cNvSpPr/>
          <p:nvPr/>
        </p:nvSpPr>
        <p:spPr>
          <a:xfrm>
            <a:off x="54864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Diagnóstico do Erro HTTP 403 Google API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Causa Raiz: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Service Accounts possuem COTA ZERO (0 MB) em drives pessoais @gmail.com.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Comportamento da API: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Quando a Service Account criava um arquivo novo em pasta compartilhada, o Google atribuía a posse do arquivo à Service Account, gerando o erro storageQuotaExceeded.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Solução Arquitetural: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Projetou-se o robô com arquitetura híbrida de autenticação.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Rounded Rectangle 7"/>
          <p:cNvSpPr/>
          <p:nvPr/>
        </p:nvSpPr>
        <p:spPr>
          <a:xfrm>
            <a:off x="621792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Solução Híbrida &amp; Fallback de Upload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Suporte Duplo: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 GestorDrive suporta nativamente tanto Service Account quanto OAuth 2.0 Client ID (gerando token.json automático com os 15GB da conta do usuário).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Fallback de Upload: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Se o arquivo a mover não for localizado no Drive, o robô executa upload_arquivo() de fallback automaticamente.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8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14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3 — ERP, DRIVE &amp; DEVOPS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Automação Web no Portal Fake (Playwright)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Sannyer C. Nery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Rounded Rectangle 6"/>
          <p:cNvSpPr/>
          <p:nvPr/>
        </p:nvSpPr>
        <p:spPr>
          <a:xfrm>
            <a:off x="54864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Integração RPA no Portal ERP (portal_integracao.py)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Execução de Alta Velocidade: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Executa via Playwright Chromium em modo Headless (ou gráfico com --no-headless).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Preenchimento Cadastral: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Preenche campos de Nome, Sobrenome, CPF, E-mail, Telefone, Nascimento, Endereço e Observações.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Atualização de Status: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Muda o status do cadastro do cliente para 'ATIVO' no Portal Fake ERP.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ounded Rectangle 7"/>
          <p:cNvSpPr/>
          <p:nvPr/>
        </p:nvSpPr>
        <p:spPr>
          <a:xfrm>
            <a:off x="621792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Auditoria Visual por Screenshots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Screenshots de Evidência: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Gera imagens 01_portal_preenchido.png e 02_extracao_dados.png.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Integração Maestro: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Posta automaticamente as screenshots como artefatos no painel do BotCity Maestro.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8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15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3 — ERP, DRIVE &amp; DEVOPS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Orquestrador Principal &amp; Governança GitFlow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Sannyer C. Nery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Rounded Rectangle 6"/>
          <p:cNvSpPr/>
          <p:nvPr/>
        </p:nvSpPr>
        <p:spPr>
          <a:xfrm>
            <a:off x="54864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Orquestrador Geral (orquestrador.py)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Modos de Execução CLI: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enviar_solicitacoes (Fase 1), processar_retornos (Fases 2 e 3) e demo_completo (Integração total).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BotCity Maestro SDK: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Suporte a execuções agendadas na nuvem, captura de parâmetros via Runner e controle de tarefas.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ounded Rectangle 7"/>
          <p:cNvSpPr/>
          <p:nvPr/>
        </p:nvSpPr>
        <p:spPr>
          <a:xfrm>
            <a:off x="621792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Governança DevOps &amp; GitFlow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Estrutura de Branches: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main (produção), develop (integração contínua), feature/* (funcionalidades) e release/2.0.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Proteção de Segredos: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Isolamento rigoroso de credenciais (.env, credentials.json, token.json) no .gitignore evitou vazamentos no GitHub.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8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16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4 — DEMONSTRAÇÃO &amp; RESULTADOS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Evidências Práticas: Logs Reais de Execução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Equipe Integrada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Rectangle 6"/>
          <p:cNvSpPr/>
          <p:nvPr/>
        </p:nvSpPr>
        <p:spPr>
          <a:xfrm>
            <a:off x="548640" y="1280160"/>
            <a:ext cx="10972440" cy="4754520"/>
          </a:xfrm>
          <a:prstGeom prst="rect">
            <a:avLst/>
          </a:prstGeom>
          <a:solidFill>
            <a:srgbClr val="333333"/>
          </a:solidFill>
          <a:ln w="19050">
            <a:solidFill>
              <a:srgbClr val="A500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===========================================================================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INICIANDO ORQUESTRAÇÃO HYPERAUTOMATION - PROCESSO 1 (MODO: DEMO_COMPLETO)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===========================================================================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[Etapa 0] Inicializando Módulos do Processo 1...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[GESTOR ARQUIVOS] Estrutura de pastas local garantida em: .../ERP_Portal_Fake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[GESTOR DRIVE] Autenticado com sucesso via Service Account!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[GESTOR DRIVE] Usando ID configurado para a pasta raiz 'ERP_Portal_Fake': 1_AMktNc_sXyN9GWkjVVV1a2fuYPtKQ7w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[GESTOR DRIVE] Estrutura de pastas no Google Drive pronta: ['ERP_Portal_Fake', 'Downloads', 'Documentos_OK', 'Documentos_Pendentes', 'Encaminhados']</a:t>
            </a:r>
            <a:br>
              <a:rPr sz="850"/>
            </a:b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[FASE 1] GERAÇÃO E ENVIO DE FICHA PARA ASSINATURA (Ana Silva) | Protocolo: #2026-0001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  [FASE 1] Ficha DOCX gerada: Ficha_Cadastro_11122233344.docx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  [FASE 1] E-mail de solicitação de assinatura enviado com sucesso.</a:t>
            </a:r>
            <a:br>
              <a:rPr sz="850"/>
            </a:b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[FASE 2 &amp; 3] MONITORAMENTO DO RETORNO, VALIDAÇÃO E CADASTRO (Ana Silva)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  [LEITOR EMAIL] Encontrados 1 novos e-mails não lidos de retorno.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  [VALIDAÇÃO] Documentação e Ficha Assinada APROVADAS para Ana Silva.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[GESTOR ARQUIVOS] Arquivo 'Ficha_Assinada_Ana_Silva.pdf' movido para 'Documentos_OK'.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[GESTOR DRIVE] Arquivo movido de 'Downloads' para 'Documentos_OK' no Google Drive!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[PORTAL INTEGRAÇÃO] Cadastrando cliente Ana Silva (CPF: 11122233344) no Portal Fake...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[PORTAL INTEGRAÇÃO] Cadastro de 'Ana' concluído com sucesso (Status: ATIVO).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[GESTOR ARQUIVOS] Arquivo movido para 'Encaminhados'.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[GESTOR DRIVE] Arquivo movido de 'Documentos_OK' para 'Encaminhados' no Google Drive!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===========================================================================</a:t>
            </a:r>
            <a:br>
              <a:rPr sz="850"/>
            </a:b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ORQUESTRAÇÃO DO PROCESSO 1 FINALIZADA COM SUCESSO!</a:t>
            </a:r>
            <a:endParaRPr lang="pt-BR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7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17 de 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4 — DEMONSTRAÇÃO &amp; RESULTADOS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Evidência 1: Interface Web do Portal Fake ERP (Preenchimento RPA)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Equipe Integrada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Rounded Rectangle 6"/>
          <p:cNvSpPr/>
          <p:nvPr/>
        </p:nvSpPr>
        <p:spPr>
          <a:xfrm>
            <a:off x="7863840" y="1280160"/>
            <a:ext cx="374868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🤖 Automação Web Playwright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Interface do Portal ERP: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Visão geral da tabela de cadastros mantida no Portal Fake Soluções Digitais.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Execução de Alta Velocidade: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Preenchimento e sincronização dinâmica em massa executados via Chromium Headless.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Validação em Tela: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Verificação de campos obrigatórios e integridade das linhas de cadastro.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Rastreabilidade: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Captura de tela automatizada no encerramento da carga inicial do sistema.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7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18 de 24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"/>
          <p:cNvPicPr/>
          <p:nvPr/>
        </p:nvPicPr>
        <p:blipFill>
          <a:blip r:embed="rId1"/>
          <a:stretch/>
        </p:blipFill>
        <p:spPr>
          <a:xfrm>
            <a:off x="540000" y="1141560"/>
            <a:ext cx="6252480" cy="5259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4 — DEMONSTRAÇÃO &amp; RESULTADOS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Evidência 2: Formulário e Ativação de Cadastro no ERP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Equipe Integrada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Rounded Rectangle 6"/>
          <p:cNvSpPr/>
          <p:nvPr/>
        </p:nvSpPr>
        <p:spPr>
          <a:xfrm>
            <a:off x="7863840" y="1280160"/>
            <a:ext cx="374868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✅ Ativação de Cadastro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Modal de Novo Cadastro: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Formulário cadastral preenchido automaticamente com os dados extraídos do cliente.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Transição de Status: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Cliente ativado no ERP com a transição automática do estado para 'ATIVO' após validação documental.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Registro de Atendimento: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Inclusão de observações auditáveis informando o atendimento automatizado.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Screenshot de Evidência: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Registro armazenado e enviado como artefato ao BotCity Maestro.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7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19 de 24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" name=""/>
          <p:cNvPicPr/>
          <p:nvPr/>
        </p:nvPicPr>
        <p:blipFill>
          <a:blip r:embed="rId1"/>
          <a:stretch/>
        </p:blipFill>
        <p:spPr>
          <a:xfrm>
            <a:off x="540000" y="1095120"/>
            <a:ext cx="5760000" cy="4844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4 — DEMONSTRAÇÃO &amp; RESULTADOS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Evidência 3: Confirmação de Cadastro Aprovado (E-mail HTML)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Equipe Integrada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2" name="Picture 6" descr="sucesso.png"/>
          <p:cNvPicPr/>
          <p:nvPr/>
        </p:nvPicPr>
        <p:blipFill>
          <a:blip r:embed="rId1"/>
          <a:stretch/>
        </p:blipFill>
        <p:spPr>
          <a:xfrm>
            <a:off x="548640" y="1280160"/>
            <a:ext cx="7131960" cy="30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Rounded Rectangle 7"/>
          <p:cNvSpPr/>
          <p:nvPr/>
        </p:nvSpPr>
        <p:spPr>
          <a:xfrm>
            <a:off x="7863840" y="1280160"/>
            <a:ext cx="374868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✅ E-mail de Aprovação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Validação Documental: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100% Aprovado.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Análise do PDF: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Ficha Cadastral Assinada, Documento com Foto e Comprovante de Residência validados via pypdf.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Automação Web: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Cadastro ativado no Portal Fake ERP como 'ATIVO' via Playwright.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Gestão de Arquivos: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Arquivo transferido para 'Documentos_OK' e depois 'Encaminhados' (local e Google Drive).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Notificação: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Disparo instantâneo do e-mail em HTML responsivo com protocolo único de aprovação.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8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20 de 24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4 — DEMONSTRAÇÃO &amp; RESULTADOS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Evidência 4: Pendência — Falta Documento Oficial com Foto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Equipe Integrada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0" name="Picture 6" descr="falha_faltou_documento_foto.png"/>
          <p:cNvPicPr/>
          <p:nvPr/>
        </p:nvPicPr>
        <p:blipFill>
          <a:blip r:embed="rId1"/>
          <a:stretch/>
        </p:blipFill>
        <p:spPr>
          <a:xfrm>
            <a:off x="548640" y="1280160"/>
            <a:ext cx="7131960" cy="30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" name="Rounded Rectangle 7"/>
          <p:cNvSpPr/>
          <p:nvPr/>
        </p:nvSpPr>
        <p:spPr>
          <a:xfrm>
            <a:off x="7863840" y="1280160"/>
            <a:ext cx="374868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⚠️ Pendência: Doc. Foto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Validação Documental: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Reprovado por Pendência.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Inconsistência Detectada: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Ausência de Documento Oficial de Identificação com Foto (RG / CPF) no PDF enviado.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Gestão de Arquivos: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PDF retido e movido para a pasta 'Documentos_Pendentes' no ERP local e no Google Drive.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Notificação Automática: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Disparo imediato de e-mail em HTML orientando o cliente sobre o reenvio exato da identidade com foto.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8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21 de 24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4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4 — DEMONSTRAÇÃO &amp; RESULTADOS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Evidência 5: Pendência — Falta Comprovante de Residência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Equipe Integrada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8" name="Picture 6" descr="falha_falta-comprovante-residencia.png"/>
          <p:cNvPicPr/>
          <p:nvPr/>
        </p:nvPicPr>
        <p:blipFill>
          <a:blip r:embed="rId1"/>
          <a:stretch/>
        </p:blipFill>
        <p:spPr>
          <a:xfrm>
            <a:off x="548640" y="1280160"/>
            <a:ext cx="7131960" cy="30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Rounded Rectangle 7"/>
          <p:cNvSpPr/>
          <p:nvPr/>
        </p:nvSpPr>
        <p:spPr>
          <a:xfrm>
            <a:off x="7863840" y="1280160"/>
            <a:ext cx="374868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⚠️ Pendência: Residência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Validação Documental: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Reprovado por Pendência.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Inconsistência Detectada: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Ausência do Comprovante de Residência (fatura de água/luz/endereço) no PDF retornado.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Gestão de Arquivos: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PDF movido para 'Documentos_Pendentes' no ERP e espelhado no Google Drive.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Notificação Automática: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Envio de e-mail em HTML responsivo solicitando a regularização do comprovante residencial.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8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22 de 24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4 — DEMONSTRAÇÃO &amp; RESULTADOS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Métricas de Sucesso &amp; Tabela Comparativa de Ganhos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Equipe Integrada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6" name="Table 6"/>
          <p:cNvGraphicFramePr/>
          <p:nvPr/>
        </p:nvGraphicFramePr>
        <p:xfrm>
          <a:off x="548640" y="1280160"/>
          <a:ext cx="10972440" cy="41148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82296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Métrica de Desempenho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Processo Manual (AS-IS)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Processo Automatizado (TO-BE)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Ganho / Melhoria Obtida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A50034"/>
                    </a:solidFill>
                  </a:tcPr>
                </a:tc>
              </a:tr>
              <a:tr h="8229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Tempo Médio por Atendimento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15 a 20 minutos por cliente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Aproximadamente 5 segundos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⚡ Redução de 99.5% no tempo de processamento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Taxa de Erro na Triagem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12% a 15% (falha humana)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0% (regras de negócio estritas)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🎯 Eliminação total de cadastros com dados/docs incompletos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EF1F5"/>
                    </a:solidFill>
                  </a:tcPr>
                </a:tc>
              </a:tr>
              <a:tr h="8229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Organização de Arquivos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Dispersos localmente sem padrão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Sincronizados local e no Google Drive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☁️ 100% dos arquivos padronizados e rastreáveis na nuvem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Comunicação com Cliente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E-mails manuais sem padronização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Templates HTML automatizados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✉️ Notificação instantânea com protocolo único em todas as fases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237" name="TextBox 7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22 de 23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Rectangle 2"/>
          <p:cNvSpPr/>
          <p:nvPr/>
        </p:nvSpPr>
        <p:spPr>
          <a:xfrm>
            <a:off x="457200" y="182880"/>
            <a:ext cx="109440" cy="639720"/>
          </a:xfrm>
          <a:prstGeom prst="rect">
            <a:avLst/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Box 3"/>
          <p:cNvSpPr/>
          <p:nvPr/>
        </p:nvSpPr>
        <p:spPr>
          <a:xfrm>
            <a:off x="685800" y="137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BLOCO 4 — DEMONSTRAÇÃO &amp; RESULTADOS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4"/>
          <p:cNvSpPr/>
          <p:nvPr/>
        </p:nvSpPr>
        <p:spPr>
          <a:xfrm>
            <a:off x="6858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Conclusão &amp; Defesa do Projeto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Rounded Rectangle 5"/>
          <p:cNvSpPr/>
          <p:nvPr/>
        </p:nvSpPr>
        <p:spPr>
          <a:xfrm>
            <a:off x="8961120" y="27432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A500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Equipe Integrada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Rounded Rectangle 6"/>
          <p:cNvSpPr/>
          <p:nvPr/>
        </p:nvSpPr>
        <p:spPr>
          <a:xfrm>
            <a:off x="54864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Atendimento a 100% dos Requisitos do Roteiro 10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✅ Modelagem BPMN 2.0: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Processo 1 totalmente mapeado no Draw.io.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✅ Automação Integrada: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Solução acoplada perfeitamente ao projeto preexistente.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✅ Validação Inteligente: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Inspeção de conteúdo em PDFs via pypdf.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✅ Sincronização em Nuvem: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Integração nativa com Google Drive API v3.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✅ Governança de Código: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Repositório GitHub organizado com metodologia GitFlow.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Rounded Rectangle 7"/>
          <p:cNvSpPr/>
          <p:nvPr/>
        </p:nvSpPr>
        <p:spPr>
          <a:xfrm>
            <a:off x="6217920" y="128016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D0D7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400" b="1" u="none" strike="noStrike">
                <a:solidFill>
                  <a:srgbClr val="A50034"/>
                </a:solidFill>
                <a:effectLst/>
                <a:uFillTx/>
                <a:latin typeface="Calibri"/>
              </a:rPr>
              <a:t>Muito Obrigado! Pergunta &amp; Resposta (Q&amp;A)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Equipe 1: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Eric Luna Costa, Daniele Greice, Kauã Sales e Sannyer Cardoso.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Professor: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Prof. Moisés Levy | Disciplina: Técnicas de Hyperautomation.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Instituição: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PÓLO DE INOVAÇÃO IFAM / FAEPI / LG.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Espaço Aberto: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Estamos à disposição da banca para dúvidas e demonstração ao vivo!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8"/>
          <p:cNvSpPr/>
          <p:nvPr/>
        </p:nvSpPr>
        <p:spPr>
          <a:xfrm>
            <a:off x="457200" y="6400800"/>
            <a:ext cx="1127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Empresa Portal Fake — Processo 1 (Setor de Atendimento) | Técnicas de Hyperautomation (LG / IFAM / FAEPI) | Slide 23 de 23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LibreOffice/26.2.5.2$Linux_X86_64 LibreOffice_project/6d2b0d33fb0f5da53a12f98bed3e9973e56ff1f0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dcterms:modified xsi:type="dcterms:W3CDTF">2026-07-30T09:04:37Z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