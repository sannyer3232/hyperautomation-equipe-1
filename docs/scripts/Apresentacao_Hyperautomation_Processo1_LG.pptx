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spcAft>
                <a:spcPts val="600"/>
              </a:spcAft>
              <a:defRPr sz="2800" b="1">
                <a:solidFill>
                  <a:srgbClr val="A50034"/>
                </a:solidFill>
              </a:defRPr>
            </a:pPr>
            <a:r>
              <a:t>DEFESA DA SOLUÇÃO DE HYPERAUTOMATION</a:t>
            </a:r>
          </a:p>
          <a:p>
            <a:pPr>
              <a:spcAft>
                <a:spcPts val="2400"/>
              </a:spcAft>
              <a:defRPr sz="1600" b="1">
                <a:solidFill>
                  <a:srgbClr val="333333"/>
                </a:solidFill>
              </a:defRPr>
            </a:pPr>
            <a:r>
              <a:t>Processo 1: Automação do Setor de Atendimento &amp; Cadastro da Empresa Portal Fake</a:t>
            </a:r>
          </a:p>
          <a:p>
            <a:pPr>
              <a:spcAft>
                <a:spcPts val="2400"/>
              </a:spcAft>
              <a:defRPr sz="1200">
                <a:solidFill>
                  <a:srgbClr val="666666"/>
                </a:solidFill>
              </a:defRPr>
            </a:pPr>
            <a:r>
              <a:t>Disciplina: Técnicas de Hyperautomation (Semana 07 / Atividade 11)</a:t>
            </a:r>
            <a:br/>
            <a:r>
              <a:t>Professor: Prof. Moisés Levy | Tempo de Apresentação: 20 Minutos</a:t>
            </a:r>
            <a:br/>
            <a:r>
              <a:t>Instituição: PÓLO DE INOVAÇÃO IFAM / FAEPI / LG</a:t>
            </a:r>
          </a:p>
          <a:p>
            <a:pPr>
              <a:spcAft>
                <a:spcPts val="600"/>
              </a:spcAft>
              <a:defRPr sz="1200" b="1">
                <a:solidFill>
                  <a:srgbClr val="A50034"/>
                </a:solidFill>
              </a:defRPr>
            </a:pPr>
            <a:r>
              <a:t>EQUIPE 1 (INTEGRANTES &amp; PAPEIS):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Eric Luna Costa — Analista de Processos BPMN &amp; Regras de Negócio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Daniele Greice Albuquerque e Silva — Desenvolvedora de Automação Core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Kauã Sales Viana — Desenvolvedor de Automação Core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Sannyer Cardoso Carvalho Nery — DevOps, Versionamento, Arquitetura &amp; Orquestração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 de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ESTRUTURA DA DEFESA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Agenda da Apresentação Técnica (20 Minutos)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Visão Geral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1: Contexto &amp; BPMN (0 a 5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Apresentador: </a:t>
            </a:r>
            <a:r>
              <a:rPr sz="1100">
                <a:solidFill>
                  <a:srgbClr val="333333"/>
                </a:solidFill>
              </a:rPr>
              <a:t>Eric Luna Costa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Contexto do Problema: </a:t>
            </a:r>
            <a:r>
              <a:rPr sz="1100">
                <a:solidFill>
                  <a:srgbClr val="333333"/>
                </a:solidFill>
              </a:rPr>
              <a:t>Gargalos do atendimento manual no Portal Fake.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 AS-IS: </a:t>
            </a:r>
            <a:r>
              <a:rPr sz="1100">
                <a:solidFill>
                  <a:srgbClr val="333333"/>
                </a:solidFill>
              </a:rPr>
              <a:t>Fluxo operacional antes da automação.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 TO-BE: </a:t>
            </a:r>
            <a:r>
              <a:rPr sz="1100">
                <a:solidFill>
                  <a:srgbClr val="333333"/>
                </a:solidFill>
              </a:rPr>
              <a:t>Modelagem BPMN 2.0 no Draw.io e regras de negócio.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2: Arquitetura &amp; Core (5 a 10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Apresentadores: </a:t>
            </a:r>
            <a:r>
              <a:rPr sz="1100">
                <a:solidFill>
                  <a:srgbClr val="333333"/>
                </a:solidFill>
              </a:rPr>
              <a:t>Daniele Greice &amp; Kauã Sales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Stack Tecnológico: </a:t>
            </a:r>
            <a:r>
              <a:rPr sz="1100">
                <a:solidFill>
                  <a:srgbClr val="333333"/>
                </a:solidFill>
              </a:rPr>
              <a:t>Python 3.10, Playwright, pypdf, BotCity Maestro.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Fases 1 &amp; 2: </a:t>
            </a:r>
            <a:r>
              <a:rPr sz="1100">
                <a:solidFill>
                  <a:srgbClr val="333333"/>
                </a:solidFill>
              </a:rPr>
              <a:t>Geração de Ficha Word, Envio SMTP e Leitor IMAP.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Fase 3: </a:t>
            </a:r>
            <a:r>
              <a:rPr sz="1100">
                <a:solidFill>
                  <a:srgbClr val="333333"/>
                </a:solidFill>
              </a:rPr>
              <a:t>Validador documental inteligente de PDFs únicos.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3: ERP, Drive &amp; DevOps (10 a 15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Apresentador: </a:t>
            </a:r>
            <a:r>
              <a:rPr sz="1100">
                <a:solidFill>
                  <a:srgbClr val="333333"/>
                </a:solidFill>
              </a:rPr>
              <a:t>Sannyer Cardoso Carvalho Nery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Gestão de Arquivos: </a:t>
            </a:r>
            <a:r>
              <a:rPr sz="1100">
                <a:solidFill>
                  <a:srgbClr val="333333"/>
                </a:solidFill>
              </a:rPr>
              <a:t>Pastas ERP local e Google Drive API v3.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Solução de Cota: </a:t>
            </a:r>
            <a:r>
              <a:rPr sz="1100">
                <a:solidFill>
                  <a:srgbClr val="333333"/>
                </a:solidFill>
              </a:rPr>
              <a:t>Suporte OAuth 2.0 / Service Account e GOOGLE_DRIVE_FOLDER_ID.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Governança &amp; GitFlow: </a:t>
            </a:r>
            <a:r>
              <a:rPr sz="1100">
                <a:solidFill>
                  <a:srgbClr val="333333"/>
                </a:solidFill>
              </a:rPr>
              <a:t>Orquestrador central e controle de versão.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4: Evidências &amp; Resultados (15 a 20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Apresentadores: </a:t>
            </a:r>
            <a:r>
              <a:rPr sz="1100">
                <a:solidFill>
                  <a:srgbClr val="333333"/>
                </a:solidFill>
              </a:rPr>
              <a:t>Equipe Integrada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Evidências Práticas: </a:t>
            </a:r>
            <a:r>
              <a:rPr sz="1100">
                <a:solidFill>
                  <a:srgbClr val="333333"/>
                </a:solidFill>
              </a:rPr>
              <a:t>Execution logs do terminal e screenshots do portal.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Tabela de Ganhos: </a:t>
            </a:r>
            <a:r>
              <a:rPr sz="1100">
                <a:solidFill>
                  <a:srgbClr val="333333"/>
                </a:solidFill>
              </a:rPr>
              <a:t>Comparativo de métricas de eficiência (Antes vs Depois).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Conclusão &amp; Q&amp;A: </a:t>
            </a:r>
            <a:r>
              <a:rPr sz="1100">
                <a:solidFill>
                  <a:srgbClr val="333333"/>
                </a:solidFill>
              </a:rPr>
              <a:t>Defesa técnica e resposta a perguntas da banca.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 de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Contexto Organizacional: Empresa Portal Fake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O ERP Simulado da Empresa Portal Fake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Operação Comercial: </a:t>
            </a:r>
            <a:r>
              <a:rPr sz="1100">
                <a:solidFill>
                  <a:srgbClr val="333333"/>
                </a:solidFill>
              </a:rPr>
              <a:t>A Empresa Portal Fake atua no fornecimento de soluções digitais e cadastramento de novos clientes.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Volume Operacional: </a:t>
            </a:r>
            <a:r>
              <a:rPr sz="1100">
                <a:solidFill>
                  <a:srgbClr val="333333"/>
                </a:solidFill>
              </a:rPr>
              <a:t>Recebe diariamente dezenas de solicitações cadastrais que exigem validação de documentos com foto, comprovante de residência e ficha assinada.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Ecossistema Híbrido: </a:t>
            </a:r>
            <a:r>
              <a:rPr sz="1100">
                <a:solidFill>
                  <a:srgbClr val="333333"/>
                </a:solidFill>
              </a:rPr>
              <a:t>A operação necessita de integração constante entre a interface Web (Portal ERP), a caixa de e-mails corporativa e o repositório de arquivos na nuvem.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Desafios do Setor de Atendimento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Alta Dependência Manual: </a:t>
            </a:r>
            <a:r>
              <a:rPr sz="1100">
                <a:solidFill>
                  <a:srgbClr val="333333"/>
                </a:solidFill>
              </a:rPr>
              <a:t>Operadores humanos realizam triagem manual repetitiva e verificação visual de anexos.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Complexidade de Integração: </a:t>
            </a:r>
            <a:r>
              <a:rPr sz="1100">
                <a:solidFill>
                  <a:srgbClr val="333333"/>
                </a:solidFill>
              </a:rPr>
              <a:t>Necessidade de ler e-mails de retorno, extrair anexos, converter/validar PDFs, atualizar dados no Portal Web e organizar arquivos.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Requisito da Semana 07: </a:t>
            </a:r>
            <a:r>
              <a:rPr sz="1100">
                <a:solidFill>
                  <a:srgbClr val="333333"/>
                </a:solidFill>
              </a:rPr>
              <a:t>Evoluir a automação existente sem recriar o robô, adicionando o módulo de Atendimento com padrão arquitetural limpo e integrado.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3 de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 Problema de Negócio &amp; Gargalos Operacionais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Tempo de Resposta Elevado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1: </a:t>
            </a:r>
            <a:r>
              <a:rPr sz="1100">
                <a:solidFill>
                  <a:srgbClr val="333333"/>
                </a:solidFill>
              </a:rPr>
              <a:t>Cada atendimento manual consumia entre 15 a 20 minutos por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Filas de espera na caixa de e-mail e demora no envio de confirmações aos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Falha Humana na Triagem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2: </a:t>
            </a:r>
            <a:r>
              <a:rPr sz="1100">
                <a:solidFill>
                  <a:srgbClr val="333333"/>
                </a:solidFill>
              </a:rPr>
              <a:t>Erro frequente no aceite de fichas não assinadas ou documentos com foto ausentes.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Cadastros inconsistentes inseridos no sistema e necessidade de retrabalho constante.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Descentralização de Dados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3: </a:t>
            </a:r>
            <a:r>
              <a:rPr sz="1100">
                <a:solidFill>
                  <a:srgbClr val="333333"/>
                </a:solidFill>
              </a:rPr>
              <a:t>Arquivos salvos em pastas locais dispersas sem espelhamento na nuvem.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Falta de auditoria, perda de histórico e dificuldade de acesso por outros setores.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4 de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Mapeamento do Processo AS-IS (Manual)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Fluxo Operacional Manual Antes da Automação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1 — Recebimento Manual: </a:t>
            </a:r>
            <a:r>
              <a:rPr sz="1100">
                <a:solidFill>
                  <a:srgbClr val="333333"/>
                </a:solidFill>
              </a:rPr>
              <a:t>Operador abre a caixa de e-mail individual e verifica se há respostas de clientes.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2 — Download &amp; Abertura: </a:t>
            </a:r>
            <a:r>
              <a:rPr sz="1100">
                <a:solidFill>
                  <a:srgbClr val="333333"/>
                </a:solidFill>
              </a:rPr>
              <a:t>Faz o download manual do anexo PDF para a área de trabalho e abre o arquivo no leitor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3 — Validação Visual: </a:t>
            </a:r>
            <a:r>
              <a:rPr sz="1100">
                <a:solidFill>
                  <a:srgbClr val="333333"/>
                </a:solidFill>
              </a:rPr>
              <a:t>Confera visualmente se o PDF contém 3 páginas (Ficha assinada, documento com foto e comprovante de residência).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4 — Digitação no ERP: </a:t>
            </a:r>
            <a:r>
              <a:rPr sz="1100">
                <a:solidFill>
                  <a:srgbClr val="333333"/>
                </a:solidFill>
              </a:rPr>
              <a:t>Abre o navegador, acessa o Portal Fake ERP e digita manualmente todos os dados do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5 — Organização de Arquivos: </a:t>
            </a:r>
            <a:r>
              <a:rPr sz="1100">
                <a:solidFill>
                  <a:srgbClr val="333333"/>
                </a:solidFill>
              </a:rPr>
              <a:t>Move manualmente o arquivo para pastas locais de aprovados ou rejeitados.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6 — Resposta ao Cliente: </a:t>
            </a:r>
            <a:r>
              <a:rPr sz="1100">
                <a:solidFill>
                  <a:srgbClr val="333333"/>
                </a:solidFill>
              </a:rPr>
              <a:t>Escreve um e-mail manual informando o status da aprovação ou pendência.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5 de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Modelagem do Processo TO-BE em BPMN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Estrutura do Diagrama BPMN 2.0 (Draw.io)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Evento Inicial: </a:t>
            </a:r>
            <a:r>
              <a:rPr sz="1100">
                <a:solidFill>
                  <a:srgbClr val="333333"/>
                </a:solidFill>
              </a:rPr>
              <a:t>Chegada de e-mail com solicitação de atendimento ou retorno de assinatura.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Atividades Automatizadas: </a:t>
            </a:r>
            <a:r>
              <a:rPr sz="1100">
                <a:solidFill>
                  <a:srgbClr val="333333"/>
                </a:solidFill>
              </a:rPr>
              <a:t>Geração de DOCX -&gt; Disparo SMTP -&gt; Monitoramento IMAP -&gt; Extração -&gt; Validação PDF -&gt; Cadastro Playwright -&gt; Sync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Pontos de Decisão (Gateway): </a:t>
            </a:r>
            <a:r>
              <a:rPr sz="1100">
                <a:solidFill>
                  <a:srgbClr val="333333"/>
                </a:solidFill>
              </a:rPr>
              <a:t>Documentação Válida? (Sim -&gt; Documentos_OK / Não -&gt; Documentos_Pendentes).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Eventos Finais: </a:t>
            </a:r>
            <a:r>
              <a:rPr sz="1100">
                <a:solidFill>
                  <a:srgbClr val="333333"/>
                </a:solidFill>
              </a:rPr>
              <a:t>Confirmação enviada ao cliente &amp; PDF transferido para Encaminhados.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Principais Ganhos do Modelo TO-BE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Autonomia Total: </a:t>
            </a:r>
            <a:r>
              <a:rPr sz="1100">
                <a:solidFill>
                  <a:srgbClr val="333333"/>
                </a:solidFill>
              </a:rPr>
              <a:t>Eliminação de qualquer intervenção humana na triagem e digitação.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Regras de Negócio Estritas: </a:t>
            </a:r>
            <a:r>
              <a:rPr sz="1100">
                <a:solidFill>
                  <a:srgbClr val="333333"/>
                </a:solidFill>
              </a:rPr>
              <a:t>Rejeição imediata de arquivos sem assinatura ou fora do padrão.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Sincronização em Tempo Real: </a:t>
            </a:r>
            <a:r>
              <a:rPr sz="1100">
                <a:solidFill>
                  <a:srgbClr val="333333"/>
                </a:solidFill>
              </a:rPr>
              <a:t>Sincronização instantânea das movimentações com o Google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6 de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Arquitetura Modular da Solução de Hyperautomation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Módulos Python e Separação de Responsabilidades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orquestrador.py: </a:t>
            </a:r>
            <a:r>
              <a:rPr sz="1100">
                <a:solidFill>
                  <a:srgbClr val="333333"/>
                </a:solidFill>
              </a:rPr>
              <a:t>Orquestrador principal que controla a execução das 3 fases do processo.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processo_atendimento/leitor_email.py: </a:t>
            </a:r>
            <a:r>
              <a:rPr sz="1100">
                <a:solidFill>
                  <a:srgbClr val="333333"/>
                </a:solidFill>
              </a:rPr>
              <a:t>Conecta à caixa IMAP4_SSL, busca e-mails não lidos (UNSEEN) e baixa PDFs.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processo_atendimento/validador_docs.py: </a:t>
            </a:r>
            <a:r>
              <a:rPr sz="1100">
                <a:solidFill>
                  <a:srgbClr val="333333"/>
                </a:solidFill>
              </a:rPr>
              <a:t>Executa a validação do PDF unificado via pypdf confirmando a integridade dos 3 documentos.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processo_atendimento/gestor_arquivos.py: </a:t>
            </a:r>
            <a:r>
              <a:rPr sz="1100">
                <a:solidFill>
                  <a:srgbClr val="333333"/>
                </a:solidFill>
              </a:rPr>
              <a:t>Gerencia o sistema de arquivos local do ERP e aciona a sincronização em nuvem.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processo_atendimento/gestor_drive.py: </a:t>
            </a:r>
            <a:r>
              <a:rPr sz="1100">
                <a:solidFill>
                  <a:srgbClr val="333333"/>
                </a:solidFill>
              </a:rPr>
              <a:t>Autentica via Google Drive API v3 e realiza a criação/movimentação remota de pastas.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processo_atendimento/resposta_cliente.py: </a:t>
            </a:r>
            <a:r>
              <a:rPr sz="1100">
                <a:solidFill>
                  <a:srgbClr val="333333"/>
                </a:solidFill>
              </a:rPr>
              <a:t>Envia notificações em HTML responsivo via SMTP (Solicitação e Confirmação/Pendência).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processo_atendimento/portal_integracao.py: </a:t>
            </a:r>
            <a:r>
              <a:rPr sz="1100">
                <a:solidFill>
                  <a:srgbClr val="333333"/>
                </a:solidFill>
              </a:rPr>
              <a:t>Automação Web via Playwright para cadastro e atualização de status no Portal Fake ERP.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7 de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Stack Tecnológico Escolhido &amp; Justificativas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Tecnologias de Automação &amp; RPA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Python 3.10: </a:t>
            </a:r>
            <a:r>
              <a:rPr sz="1100">
                <a:solidFill>
                  <a:srgbClr val="333333"/>
                </a:solidFill>
              </a:rPr>
              <a:t>Linguagem base de alta produtividade, suporte a bibliotecas maduras e ecossistema robusto.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Playwright: </a:t>
            </a:r>
            <a:r>
              <a:rPr sz="1100">
                <a:solidFill>
                  <a:srgbClr val="333333"/>
                </a:solidFill>
              </a:rPr>
              <a:t>Automação Web de última geração, execução ultra-rápida em Chromium headless e suporte a screenshots.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BotCity Maestro SDK: </a:t>
            </a:r>
            <a:r>
              <a:rPr sz="1100">
                <a:solidFill>
                  <a:srgbClr val="333333"/>
                </a:solidFill>
              </a:rPr>
              <a:t>Orquestração na nuvem, controle de execução, postagem de artefatos e logs centralizados.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Tecnologias de Integração &amp; Documentos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Google Drive API v3: </a:t>
            </a:r>
            <a:r>
              <a:rPr sz="1100">
                <a:solidFill>
                  <a:srgbClr val="333333"/>
                </a:solidFill>
              </a:rPr>
              <a:t>Integração oficial via google-api-python-client e google-auth-oauthlib.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pypdf &amp; python-docx: </a:t>
            </a:r>
            <a:r>
              <a:rPr sz="1100">
                <a:solidFill>
                  <a:srgbClr val="333333"/>
                </a:solidFill>
              </a:rPr>
              <a:t>Manipulação avançada de PDFs e geração dinâmica de fichas cadastrais em Word.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imaplib &amp; smtplib: </a:t>
            </a:r>
            <a:r>
              <a:rPr sz="1100">
                <a:solidFill>
                  <a:srgbClr val="333333"/>
                </a:solidFill>
              </a:rPr>
              <a:t>Protocolos padrão para conexão segura SSL a servidores de e-mail corporativos (Gmail).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8 de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1: Geração da Ficha (.docx) &amp; Solicitação SMTP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Geração Dinâmica do Documento Word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 de Suporte: </a:t>
            </a:r>
            <a:r>
              <a:rPr sz="1100">
                <a:solidFill>
                  <a:srgbClr val="333333"/>
                </a:solidFill>
              </a:rPr>
              <a:t>common/documento_email.py (função criar_documento).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Extração Dinâmica: </a:t>
            </a:r>
            <a:r>
              <a:rPr sz="1100">
                <a:solidFill>
                  <a:srgbClr val="333333"/>
                </a:solidFill>
              </a:rPr>
              <a:t>Robô lê os dados cadastrais do cliente no Portal Fake ou base de entrada.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Template Automático: </a:t>
            </a:r>
            <a:r>
              <a:rPr sz="1100">
                <a:solidFill>
                  <a:srgbClr val="333333"/>
                </a:solidFill>
              </a:rPr>
              <a:t>Preenche a Ficha Cadastral padronizada em formato .docx com Nome, CPF, Telefone, E-mail e Endereço.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Status Inicial: </a:t>
            </a:r>
            <a:r>
              <a:rPr sz="1100">
                <a:solidFill>
                  <a:srgbClr val="333333"/>
                </a:solidFill>
              </a:rPr>
              <a:t>Marca o status da ficha como 'AGUARDANDO ASSINATURA E DOCUMENTOS'.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Disparo de E-mail de Solicitação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 de Envio: </a:t>
            </a:r>
            <a:r>
              <a:rPr sz="1100">
                <a:solidFill>
                  <a:srgbClr val="333333"/>
                </a:solidFill>
              </a:rPr>
              <a:t>processo_atendimento/resposta_cliente.py.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Protocolo Único: </a:t>
            </a:r>
            <a:r>
              <a:rPr sz="1100">
                <a:solidFill>
                  <a:srgbClr val="333333"/>
                </a:solidFill>
              </a:rPr>
              <a:t>Gera protocolo único de atendimento no formato #YYYY-XXXX.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E-mail HTML Responsivo: </a:t>
            </a:r>
            <a:r>
              <a:rPr sz="1100">
                <a:solidFill>
                  <a:srgbClr val="333333"/>
                </a:solidFill>
              </a:rPr>
              <a:t>Envia o e-mail anexando a Ficha DOCX e instruindo o cliente a retornar o PDF Único com a ficha assinada e documentos com foto.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9 de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2: Leitor de E-mails IMAP &amp; Extração de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Monitoramento Inteligente via IMAP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Conexão SSL: </a:t>
            </a:r>
            <a:r>
              <a:rPr sz="1100">
                <a:solidFill>
                  <a:srgbClr val="333333"/>
                </a:solidFill>
              </a:rPr>
              <a:t>imaplib.IMAP4_SSL com login seguro em imap.gmail.com.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Busca Seletiva: </a:t>
            </a:r>
            <a:r>
              <a:rPr sz="1100">
                <a:solidFill>
                  <a:srgbClr val="333333"/>
                </a:solidFill>
              </a:rPr>
              <a:t>Filtro estrito por e-mails NÃO LIDOS (UNSEEN) contendo 'Assinatura' ou 'Ficha' no assunto.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Prevenção de Duplicidade: </a:t>
            </a:r>
            <a:r>
              <a:rPr sz="1100">
                <a:solidFill>
                  <a:srgbClr val="333333"/>
                </a:solidFill>
              </a:rPr>
              <a:t>Aplica a flag \Seen no servidor IMAP imediatamente após o download para evitar reprocessamento duplicado.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Extração e Salvamento de Anexos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Módulo: </a:t>
            </a:r>
            <a:r>
              <a:rPr sz="1100">
                <a:solidFill>
                  <a:srgbClr val="333333"/>
                </a:solidFill>
              </a:rPr>
              <a:t>processo_atendimento/leitor_email.py.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Extração de PDF: </a:t>
            </a:r>
            <a:r>
              <a:rPr sz="1100">
                <a:solidFill>
                  <a:srgbClr val="333333"/>
                </a:solidFill>
              </a:rPr>
              <a:t>Decodifica headers de e-mail e salva o PDF unificado retornado pelo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Pasta de Entrada: </a:t>
            </a:r>
            <a:r>
              <a:rPr sz="1100">
                <a:solidFill>
                  <a:srgbClr val="333333"/>
                </a:solidFill>
              </a:rPr>
              <a:t>Armazena o arquivo diretamente em ERP_Portal_Fake/Downloads/.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Trigger no Drive: </a:t>
            </a:r>
            <a:r>
              <a:rPr sz="1100">
                <a:solidFill>
                  <a:srgbClr val="333333"/>
                </a:solidFill>
              </a:rPr>
              <a:t>Dispara o upload automático para a pasta 'Downloads' no Google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10 de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3: Validador Documental Inteligente (pypdf)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Inspeção Automatizada de PDFs com pypdf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Módulo: </a:t>
            </a:r>
            <a:r>
              <a:rPr sz="1100">
                <a:solidFill>
                  <a:srgbClr val="333333"/>
                </a:solidFill>
              </a:rPr>
              <a:t>processo_atendimento/validador_docs.py.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Checagem de Tamanho: </a:t>
            </a:r>
            <a:r>
              <a:rPr sz="1100">
                <a:solidFill>
                  <a:srgbClr val="333333"/>
                </a:solidFill>
              </a:rPr>
              <a:t>Rejeita arquivos corrompidos ou com 0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Inspeção de Conteúdo: </a:t>
            </a:r>
            <a:r>
              <a:rPr sz="1100">
                <a:solidFill>
                  <a:srgbClr val="333333"/>
                </a:solidFill>
              </a:rPr>
              <a:t>Lê o texto interno das páginas do PDF buscando palavras-chave obrigatórias: 'Ficha Cadastral', 'Assinada', 'Identidade/RG/CPF' e 'Comprovante/Residência'.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Decisão de Aprovação vs Pendência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Caso APROVADO: </a:t>
            </a:r>
            <a:r>
              <a:rPr sz="1100">
                <a:solidFill>
                  <a:srgbClr val="333333"/>
                </a:solidFill>
              </a:rPr>
              <a:t>Move PDF para 'Documentos_OK', executa cadastro Playwright, move para 'Encaminhados' e envia e-mail de aprovação em HTML.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Caso REPROVADO: </a:t>
            </a:r>
            <a:r>
              <a:rPr sz="1100">
                <a:solidFill>
                  <a:srgbClr val="333333"/>
                </a:solidFill>
              </a:rPr>
              <a:t>Move PDF para 'Documentos_Pendentes' e envia e-mail em HTML notificando as pendências exatas ao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11 de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Estrutura de Pastas do ERP Simulado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Gerenciador de Arquivos ERP (gestor_arquivos.py)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1. Downloads/: </a:t>
            </a:r>
            <a:r>
              <a:rPr sz="1100">
                <a:solidFill>
                  <a:srgbClr val="333333"/>
                </a:solidFill>
              </a:rPr>
              <a:t>Pasta de entrada onde todos os novos PDFs baixados da caixa de e-mail são depositados.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2. Documentos_OK/: </a:t>
            </a:r>
            <a:r>
              <a:rPr sz="1100">
                <a:solidFill>
                  <a:srgbClr val="333333"/>
                </a:solidFill>
              </a:rPr>
              <a:t>Pasta intermediária para arquivos cujos PDFs foram validados e aprovados pelas regras de negócio.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3. Documentos_Pendentes/: </a:t>
            </a:r>
            <a:r>
              <a:rPr sz="1100">
                <a:solidFill>
                  <a:srgbClr val="333333"/>
                </a:solidFill>
              </a:rPr>
              <a:t>Pasta de retenção para documentos reprovados ou com inconsistências (aguardando novo envio).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4. Encaminhados/: </a:t>
            </a:r>
            <a:r>
              <a:rPr sz="1100">
                <a:solidFill>
                  <a:srgbClr val="333333"/>
                </a:solidFill>
              </a:rPr>
              <a:t>Pasta final do setor onde ficam armazenados os cadastros ativos concluídos e encaminhados ao próximo setor.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Sincronismo Físico/Nuvem: </a:t>
            </a:r>
            <a:r>
              <a:rPr sz="1100">
                <a:solidFill>
                  <a:srgbClr val="333333"/>
                </a:solidFill>
              </a:rPr>
              <a:t>Cada operação shutil.move() executada localmente invoca automaticamente o gestor_drive.mover_arquivo().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12 de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Integração Avançada com Google Drive API v3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Módulo GestorDrive (gestor_drive.py)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Mapeamento Automático: </a:t>
            </a:r>
            <a:r>
              <a:rPr sz="1100">
                <a:solidFill>
                  <a:srgbClr val="333333"/>
                </a:solidFill>
              </a:rPr>
              <a:t>Localiza a pasta raiz ERP_Portal_Fake e garante a criação/mapeamento das 4 subpastas no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Mapeamento por ID: </a:t>
            </a:r>
            <a:r>
              <a:rPr sz="1100">
                <a:solidFill>
                  <a:srgbClr val="333333"/>
                </a:solidFill>
              </a:rPr>
              <a:t>Suporte à variável GOOGLE_DRIVE_FOLDER_ID no .env para vincular diretamente à pasta compartilhada pelo usuário.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Suporte a Drives Compartilhados: </a:t>
            </a:r>
            <a:r>
              <a:rPr sz="1100">
                <a:solidFill>
                  <a:srgbClr val="333333"/>
                </a:solidFill>
              </a:rPr>
              <a:t>Inclusão de supportsAllDrives=True e includeItemsFromAllDrives=True em todas as requisições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Movimentação Remota Inteligente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Atualização de Parents: </a:t>
            </a:r>
            <a:r>
              <a:rPr sz="1100">
                <a:solidFill>
                  <a:srgbClr val="333333"/>
                </a:solidFill>
              </a:rPr>
              <a:t>Utiliza a API files().update(addParents=..., removeParents=...) para mover arquivos entre pastas sem recriá-los.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Rastreamento por Nome: </a:t>
            </a:r>
            <a:r>
              <a:rPr sz="1100">
                <a:solidFill>
                  <a:srgbClr val="333333"/>
                </a:solidFill>
              </a:rPr>
              <a:t>Localiza arquivos no Drive por query de nome e ID do pai com suporte a buscas globais de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13 de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Resolução do Desafio Técnico: Cota 0MB no 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Diagnóstico do Erro HTTP 403 Google API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Causa Raiz: </a:t>
            </a:r>
            <a:r>
              <a:rPr sz="1100">
                <a:solidFill>
                  <a:srgbClr val="333333"/>
                </a:solidFill>
              </a:rPr>
              <a:t>Service Accounts possuem COTA ZERO (0 MB) em drives pessoais @gmail.com.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Comportamento da API: </a:t>
            </a:r>
            <a:r>
              <a:rPr sz="1100">
                <a:solidFill>
                  <a:srgbClr val="333333"/>
                </a:solidFill>
              </a:rPr>
              <a:t>Quando a Service Account criava um arquivo novo em pasta compartilhada, o Google atribuía a posse do arquivo à Service Account, gerando o erro storageQuotaExceeded.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Solução Arquitetural: </a:t>
            </a:r>
            <a:r>
              <a:rPr sz="1100">
                <a:solidFill>
                  <a:srgbClr val="333333"/>
                </a:solidFill>
              </a:rPr>
              <a:t>Projetou-se o robô com arquitetura híbrida de autenticação.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Solução Híbrida &amp; Fallback de Upload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Suporte Duplo: </a:t>
            </a:r>
            <a:r>
              <a:rPr sz="1100">
                <a:solidFill>
                  <a:srgbClr val="333333"/>
                </a:solidFill>
              </a:rPr>
              <a:t>O GestorDrive suporta nativamente tanto Service Account quanto OAuth 2.0 Client ID (gerando token.json automático com os 15GB da conta do usuário).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Fallback de Upload: </a:t>
            </a:r>
            <a:r>
              <a:rPr sz="1100">
                <a:solidFill>
                  <a:srgbClr val="333333"/>
                </a:solidFill>
              </a:rPr>
              <a:t>Se o arquivo a mover não for localizado no Drive, o robô executa upload_arquivo() de fallback automaticamente.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14 de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Automação Web no Portal Fake (Playwright)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Integração RPA no Portal ERP (portal_integracao.py)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Execução de Alta Velocidade: </a:t>
            </a:r>
            <a:r>
              <a:rPr sz="1100">
                <a:solidFill>
                  <a:srgbClr val="333333"/>
                </a:solidFill>
              </a:rPr>
              <a:t>Executa via Playwright Chromium em modo Headless (ou gráfico com --no-headless).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Preenchimento Cadastral: </a:t>
            </a:r>
            <a:r>
              <a:rPr sz="1100">
                <a:solidFill>
                  <a:srgbClr val="333333"/>
                </a:solidFill>
              </a:rPr>
              <a:t>Preenche campos de Nome, Sobrenome, CPF, E-mail, Telefone, Nascimento, Endereço e Observações.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Atualização de Status: </a:t>
            </a:r>
            <a:r>
              <a:rPr sz="1100">
                <a:solidFill>
                  <a:srgbClr val="333333"/>
                </a:solidFill>
              </a:rPr>
              <a:t>Muda o status do cadastro do cliente para 'ATIVO' no Portal Fake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Auditoria Visual por Screenshots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Screenshots de Evidência: </a:t>
            </a:r>
            <a:r>
              <a:rPr sz="1100">
                <a:solidFill>
                  <a:srgbClr val="333333"/>
                </a:solidFill>
              </a:rPr>
              <a:t>Gera imagens 01_portal_preenchido.png e 02_extracao_dados.png.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Integração Maestro: </a:t>
            </a:r>
            <a:r>
              <a:rPr sz="1100">
                <a:solidFill>
                  <a:srgbClr val="333333"/>
                </a:solidFill>
              </a:rPr>
              <a:t>Posta automaticamente as screenshots como artefatos no painel do BotCity Maestro.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15 de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Orquestrador Principal &amp; Governança GitFlow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Orquestrador Geral (orquestrador.py)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Modos de Execução CLI: </a:t>
            </a:r>
            <a:r>
              <a:rPr sz="1100">
                <a:solidFill>
                  <a:srgbClr val="333333"/>
                </a:solidFill>
              </a:rPr>
              <a:t>enviar_solicitacoes (Fase 1), processar_retornos (Fases 2 e 3) e demo_completo (Integração total).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BotCity Maestro SDK: </a:t>
            </a:r>
            <a:r>
              <a:rPr sz="1100">
                <a:solidFill>
                  <a:srgbClr val="333333"/>
                </a:solidFill>
              </a:rPr>
              <a:t>Suporte a execuções agendadas na nuvem, captura de parâmetros via Runner e controle de tarefas.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Governança DevOps &amp; GitFlow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Estrutura de Branches: </a:t>
            </a:r>
            <a:r>
              <a:rPr sz="1100">
                <a:solidFill>
                  <a:srgbClr val="333333"/>
                </a:solidFill>
              </a:rPr>
              <a:t>main (produção), develop (integração contínua), feature/* (funcionalidades) e release/2.0.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Proteção de Segredos: </a:t>
            </a:r>
            <a:r>
              <a:rPr sz="1100">
                <a:solidFill>
                  <a:srgbClr val="333333"/>
                </a:solidFill>
              </a:rPr>
              <a:t>Isolamento rigoroso de credenciais (.env, credentials.json, token.json) no .gitignore evitou vazamentos no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16 de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Evidências Práticas: Logs Reais de Execução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solidFill>
            <a:srgbClr val="333333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850">
                <a:solidFill>
                  <a:srgbClr val="FFFFFF"/>
                </a:solidFill>
                <a:latin typeface="Courier New"/>
              </a:defRPr>
            </a:pPr>
            <a:r>
              <a:t>===========================================================================</a:t>
            </a:r>
            <a:br/>
            <a:r>
              <a:t>INICIANDO ORQUESTRAÇÃO HYPERAUTOMATION - PROCESSO 1 (MODO: DEMO_COMPLETO)</a:t>
            </a:r>
            <a:br/>
            <a:r>
              <a:t>===========================================================================</a:t>
            </a:r>
            <a:br/>
            <a:r>
              <a:t>[Etapa 0] Inicializando Módulos do Processo 1...</a:t>
            </a:r>
            <a:br/>
            <a:r>
              <a:t>[GESTOR ARQUIVOS] Estrutura de pastas local garantida em: .../ERP_Portal_Fake</a:t>
            </a:r>
            <a:br/>
            <a:r>
              <a:t>[GESTOR DRIVE] Autenticado com sucesso via Service Account!</a:t>
            </a:r>
            <a:br/>
            <a:r>
              <a:t>[GESTOR DRIVE] Usando ID configurado para a pasta raiz 'ERP_Portal_Fake': 1_AMktNc_sXyN9GWkjVVV1a2fuYPtKQ7w</a:t>
            </a:r>
            <a:br/>
            <a:r>
              <a:t>[GESTOR DRIVE] Estrutura de pastas no Google Drive pronta: ['ERP_Portal_Fake', 'Downloads', 'Documentos_OK', 'Documentos_Pendentes', 'Encaminhados']</a:t>
            </a:r>
            <a:br/>
            <a:br/>
            <a:r>
              <a:t>[FASE 1] GERAÇÃO E ENVIO DE FICHA PARA ASSINATURA (Ana Silva) | Protocolo: #2026-0001</a:t>
            </a:r>
            <a:br/>
            <a:r>
              <a:t>  [FASE 1] Ficha DOCX gerada: Ficha_Cadastro_11122233344.docx</a:t>
            </a:r>
            <a:br/>
            <a:r>
              <a:t>  [FASE 1] E-mail de solicitação de assinatura enviado com sucesso.</a:t>
            </a:r>
            <a:br/>
            <a:br/>
            <a:r>
              <a:t>[FASE 2 &amp; 3] MONITORAMENTO DO RETORNO, VALIDAÇÃO E CADASTRO (Ana Silva)</a:t>
            </a:r>
            <a:br/>
            <a:r>
              <a:t>  [LEITOR EMAIL] Encontrados 1 novos e-mails não lidos de retorno.</a:t>
            </a:r>
            <a:br/>
            <a:r>
              <a:t>  [VALIDAÇÃO] Documentação e Ficha Assinada APROVADAS para Ana Silva.</a:t>
            </a:r>
            <a:br/>
            <a:r>
              <a:t>[GESTOR ARQUIVOS] Arquivo 'Ficha_Assinada_Ana_Silva.pdf' movido para 'Documentos_OK'.</a:t>
            </a:r>
            <a:br/>
            <a:r>
              <a:t>[GESTOR DRIVE] Arquivo movido de 'Downloads' para 'Documentos_OK' no Google Drive!</a:t>
            </a:r>
            <a:br/>
            <a:r>
              <a:t>[PORTAL INTEGRAÇÃO] Cadastrando cliente Ana Silva (CPF: 11122233344) no Portal Fake...</a:t>
            </a:r>
            <a:br/>
            <a:r>
              <a:t>[PORTAL INTEGRAÇÃO] Cadastro de 'Ana' concluído com sucesso (Status: ATIVO).</a:t>
            </a:r>
            <a:br/>
            <a:r>
              <a:t>[GESTOR ARQUIVOS] Arquivo movido para 'Encaminhados'.</a:t>
            </a:r>
            <a:br/>
            <a:r>
              <a:t>[GESTOR DRIVE] Arquivo movido de 'Documentos_OK' para 'Encaminhados' no Google Drive!</a:t>
            </a:r>
            <a:br/>
            <a:r>
              <a:t>===========================================================================</a:t>
            </a:r>
            <a:br/>
            <a:r>
              <a:t>ORQUESTRAÇÃO DO PROCESSO 1 FINALIZADA COM SUCESSO!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17 de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Evidências Práticas: Portal Fake &amp; Google 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Figura 2: Portal ERP Preenchido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Playwright RPA: </a:t>
            </a:r>
            <a:r>
              <a:rPr sz="1100">
                <a:solidFill>
                  <a:srgbClr val="333333"/>
                </a:solidFill>
              </a:rPr>
              <a:t>Cadastros preenchidos automaticamente na interface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303520" cy="128016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Figura 3: Ativação de Cadastro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Status Ativo: </a:t>
            </a:r>
            <a:r>
              <a:rPr sz="1100">
                <a:solidFill>
                  <a:srgbClr val="333333"/>
                </a:solidFill>
              </a:rPr>
              <a:t>Confirmação do cadastro ativado com sucesso após validação.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18 de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Evidências Práticas: Confirmações &amp; Pendências Identificadas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pic>
        <p:nvPicPr>
          <p:cNvPr id="7" name="Picture 6" descr="suce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474720" cy="14905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754880"/>
            <a:ext cx="3474720" cy="13716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✅ E-mail de Sucesso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Retorno do Robô: </a:t>
            </a:r>
            <a:r>
              <a:rPr sz="1100">
                <a:solidFill>
                  <a:srgbClr val="333333"/>
                </a:solidFill>
              </a:rPr>
              <a:t>Confirmação de aprovação e cadastro ativado no ERP.</a:t>
            </a:r>
          </a:p>
        </p:txBody>
      </p:sp>
      <p:pic>
        <p:nvPicPr>
          <p:cNvPr id="9" name="Picture 8" descr="falha_faltou_documento_f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80160"/>
            <a:ext cx="3474720" cy="14905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97680" y="4754880"/>
            <a:ext cx="3474720" cy="13716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⚠️ Pendência: Doc. Foto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Retorno do Robô: </a:t>
            </a:r>
            <a:r>
              <a:rPr sz="1100">
                <a:solidFill>
                  <a:srgbClr val="333333"/>
                </a:solidFill>
              </a:rPr>
              <a:t>Identificada ausência de Documento Oficial com Foto.</a:t>
            </a:r>
          </a:p>
        </p:txBody>
      </p:sp>
      <p:pic>
        <p:nvPicPr>
          <p:cNvPr id="11" name="Picture 10" descr="falha_falta-comprovante-reside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80160"/>
            <a:ext cx="3474720" cy="14905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4754880"/>
            <a:ext cx="3474720" cy="13716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⚠️ Pendência: Residência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Retorno do Robô: </a:t>
            </a:r>
            <a:r>
              <a:rPr sz="1100">
                <a:solidFill>
                  <a:srgbClr val="333333"/>
                </a:solidFill>
              </a:rPr>
              <a:t>Identificada ausência de Comprovante de Residência.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19 de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Métricas de Sucesso &amp; Tabela Comparativa de Ganhos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Métrica de Desempenho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Processo Manual (AS-IS)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Processo Automatizado (TO-BE)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Ganho / Melhoria Obtida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Tempo Médio por Atendimento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15 a 20 minutos por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Aproximadamente 5 segundos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⚡ Redução de 99.5% no tempo de processamento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Taxa de Erro na Triagem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12% a 15% (falha humana)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0% (regras de negócio estritas)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🎯 Eliminação total de cadastros com dados/docs incompletos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Organização de Arquivos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Dispersos localmente sem padrão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Sincronizados local e no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☁️ 100% dos arquivos padronizados e rastreáveis na nuvem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Comunicação com Cliente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E-mails manuais sem padronização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Templates HTML automatizados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✉️ Notificação instantânea com protocolo único em todas as fases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20 de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Conclusão &amp; Defesa do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Atendimento a 100% dos Requisitos do Roteiro 10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Modelagem BPMN 2.0: </a:t>
            </a:r>
            <a:r>
              <a:rPr sz="1100">
                <a:solidFill>
                  <a:srgbClr val="333333"/>
                </a:solidFill>
              </a:rPr>
              <a:t>Processo 1 totalmente mapeado no Draw.io.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Automação Integrada: </a:t>
            </a:r>
            <a:r>
              <a:rPr sz="1100">
                <a:solidFill>
                  <a:srgbClr val="333333"/>
                </a:solidFill>
              </a:rPr>
              <a:t>Solução acoplada perfeitamente ao projeto preexistente.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Validação Inteligente: </a:t>
            </a:r>
            <a:r>
              <a:rPr sz="1100">
                <a:solidFill>
                  <a:srgbClr val="333333"/>
                </a:solidFill>
              </a:rPr>
              <a:t>Inspeção de conteúdo em PDFs via pypdf.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Sincronização em Nuvem: </a:t>
            </a:r>
            <a:r>
              <a:rPr sz="1100">
                <a:solidFill>
                  <a:srgbClr val="333333"/>
                </a:solidFill>
              </a:rPr>
              <a:t>Integração nativa com Google Drive API v3.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Governança de Código: </a:t>
            </a:r>
            <a:r>
              <a:rPr sz="1100">
                <a:solidFill>
                  <a:srgbClr val="333333"/>
                </a:solidFill>
              </a:rPr>
              <a:t>Repositório GitHub organizado com metodologia GitFlow.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Muito Obrigado! Pergunta &amp; Resposta (Q&amp;A)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Equipe 1: </a:t>
            </a:r>
            <a:r>
              <a:rPr sz="1100">
                <a:solidFill>
                  <a:srgbClr val="333333"/>
                </a:solidFill>
              </a:rPr>
              <a:t>Eric Luna Costa, Daniele Greice, Kauã Sales e Sannyer Cardoso.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Professor: </a:t>
            </a:r>
            <a:r>
              <a:rPr sz="1100">
                <a:solidFill>
                  <a:srgbClr val="333333"/>
                </a:solidFill>
              </a:rPr>
              <a:t>Prof. Moisés Levy | Disciplina: Técnicas de Hyperautomation.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Instituição: </a:t>
            </a:r>
            <a:r>
              <a:rPr sz="1100">
                <a:solidFill>
                  <a:srgbClr val="333333"/>
                </a:solidFill>
              </a:rPr>
              <a:t>PÓLO DE INOVAÇÃO IFAM / FAEPI / LG.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Espaço Aberto: </a:t>
            </a:r>
            <a:r>
              <a:rPr sz="1100">
                <a:solidFill>
                  <a:srgbClr val="333333"/>
                </a:solidFill>
              </a:rPr>
              <a:t>Estamos à disposição da banca para dúvidas e demonstração ao vivo!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21 de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